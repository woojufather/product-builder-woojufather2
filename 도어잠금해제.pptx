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lfa Slab One" charset="0"/>
      <p:regular r:id="rId13"/>
    </p:embeddedFon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Black Han Sans Regular" charset="-12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-256" y="-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0"/>
            <a:ext cx="5181600" cy="1036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6200000">
            <a:off x="16357600" y="762000"/>
            <a:ext cx="2032000" cy="495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 rot="-16200000">
            <a:off x="14274800" y="6591300"/>
            <a:ext cx="62230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48570"/>
              </a:lnSpc>
            </a:pPr>
            <a:r>
              <a:rPr lang="ko-KR" sz="2000" b="0" i="0" u="none" strike="noStrike" spc="-100">
                <a:solidFill>
                  <a:srgbClr val="AD1515"/>
                </a:solidFill>
                <a:ea typeface="S-Core Dream 4 Regular"/>
              </a:rPr>
              <a:t>힘이</a:t>
            </a:r>
            <a:r>
              <a:rPr lang="en-US" sz="20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000" b="0" i="0" u="none" strike="noStrike" spc="-100">
                <a:solidFill>
                  <a:srgbClr val="AD1515"/>
                </a:solidFill>
                <a:ea typeface="S-Core Dream 4 Regular"/>
              </a:rPr>
              <a:t>없는</a:t>
            </a:r>
            <a:r>
              <a:rPr lang="en-US" sz="20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000" b="0" i="0" u="none" strike="noStrike" spc="-100">
                <a:solidFill>
                  <a:srgbClr val="AD1515"/>
                </a:solidFill>
                <a:ea typeface="S-Core Dream 4 Regular"/>
              </a:rPr>
              <a:t>아이들은</a:t>
            </a:r>
            <a:r>
              <a:rPr lang="en-US" sz="2000" b="0" i="0" u="none" strike="noStrike" spc="-100">
                <a:solidFill>
                  <a:srgbClr val="AD1515"/>
                </a:solidFill>
                <a:latin typeface="S-Core Dream 4 Regular"/>
              </a:rPr>
              <a:t>  </a:t>
            </a:r>
            <a:r>
              <a:rPr lang="ko-KR" sz="2000" b="0" i="0" u="none" strike="noStrike" spc="-100">
                <a:solidFill>
                  <a:srgbClr val="AD1515"/>
                </a:solidFill>
                <a:ea typeface="S-Core Dream 4 Regular"/>
              </a:rPr>
              <a:t>할</a:t>
            </a:r>
            <a:r>
              <a:rPr lang="en-US" sz="20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000" b="0" i="0" u="none" strike="noStrike" spc="-100">
                <a:solidFill>
                  <a:srgbClr val="AD1515"/>
                </a:solidFill>
                <a:ea typeface="S-Core Dream 4 Regular"/>
              </a:rPr>
              <a:t>수</a:t>
            </a:r>
            <a:r>
              <a:rPr lang="en-US" sz="20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000" b="0" i="0" u="none" strike="noStrike" spc="-100">
                <a:solidFill>
                  <a:srgbClr val="AD1515"/>
                </a:solidFill>
                <a:ea typeface="S-Core Dream 4 Regular"/>
              </a:rPr>
              <a:t>있는게</a:t>
            </a:r>
            <a:r>
              <a:rPr lang="en-US" sz="20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000" b="0" i="0" u="none" strike="noStrike" spc="-100">
                <a:solidFill>
                  <a:srgbClr val="AD1515"/>
                </a:solidFill>
                <a:ea typeface="S-Core Dream 4 Regular"/>
              </a:rPr>
              <a:t>없습니다</a:t>
            </a:r>
            <a:r>
              <a:rPr lang="en-US" sz="2000" b="0" i="0" u="none" strike="noStrike" spc="-100">
                <a:solidFill>
                  <a:srgbClr val="AD1515"/>
                </a:solidFill>
                <a:latin typeface="S-Core Dream 4 Regular"/>
              </a:rPr>
              <a:t>. 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143000"/>
            <a:ext cx="9055100" cy="842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7000" y="4787900"/>
            <a:ext cx="1079500" cy="1270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08100" y="2146300"/>
            <a:ext cx="88265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4660"/>
              </a:lnSpc>
            </a:pPr>
            <a:r>
              <a:rPr lang="ko-KR" sz="9000" b="0" i="0" u="none" strike="noStrike" spc="-1000">
                <a:solidFill>
                  <a:srgbClr val="AD1515"/>
                </a:solidFill>
                <a:ea typeface="Black Han Sans Regular"/>
              </a:rPr>
              <a:t>고장난</a:t>
            </a:r>
            <a:r>
              <a:rPr lang="en-US" sz="9000" b="0" i="0" u="none" strike="noStrike" spc="-1000">
                <a:solidFill>
                  <a:srgbClr val="AD1515"/>
                </a:solidFill>
                <a:latin typeface="Black Han Sans Regular"/>
              </a:rPr>
              <a:t> </a:t>
            </a:r>
            <a:r>
              <a:rPr lang="ko-KR" sz="9000" b="0" i="0" u="none" strike="noStrike" spc="-1000">
                <a:solidFill>
                  <a:srgbClr val="AD1515"/>
                </a:solidFill>
                <a:ea typeface="Black Han Sans Regular"/>
              </a:rPr>
              <a:t>손잡이로</a:t>
            </a:r>
            <a:r>
              <a:rPr lang="en-US" sz="9000" b="0" i="0" u="none" strike="noStrike" spc="-1000">
                <a:solidFill>
                  <a:srgbClr val="AD1515"/>
                </a:solidFill>
                <a:latin typeface="Black Han Sans Regular"/>
              </a:rPr>
              <a:t> </a:t>
            </a:r>
            <a:r>
              <a:rPr lang="ko-KR" sz="9000" b="0" i="0" u="none" strike="noStrike" spc="-1000">
                <a:solidFill>
                  <a:srgbClr val="AD1515"/>
                </a:solidFill>
                <a:ea typeface="Black Han Sans Regular"/>
              </a:rPr>
              <a:t>인한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0" y="7277100"/>
            <a:ext cx="1028700" cy="1028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7594600"/>
            <a:ext cx="393700" cy="393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44600" y="4216400"/>
            <a:ext cx="8877300" cy="195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4660"/>
              </a:lnSpc>
            </a:pPr>
            <a:r>
              <a:rPr lang="ko-KR" sz="9000" b="0" i="0" u="none" strike="noStrike" spc="-1000">
                <a:solidFill>
                  <a:srgbClr val="AD1515"/>
                </a:solidFill>
                <a:ea typeface="Black Han Sans Regular"/>
              </a:rPr>
              <a:t>갇힘사고를</a:t>
            </a:r>
            <a:r>
              <a:rPr lang="en-US" sz="11000" b="0" i="0" u="none" strike="noStrike" spc="-1200">
                <a:solidFill>
                  <a:srgbClr val="AD1515"/>
                </a:solidFill>
                <a:latin typeface="Black Han Sans Regular"/>
              </a:rPr>
              <a:t>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0000" y="6680200"/>
            <a:ext cx="88265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4660"/>
              </a:lnSpc>
            </a:pPr>
            <a:r>
              <a:rPr lang="ko-KR" sz="9000" b="0" i="0" u="none" strike="noStrike" spc="-1000">
                <a:solidFill>
                  <a:srgbClr val="AD1515"/>
                </a:solidFill>
                <a:ea typeface="Black Han Sans Regular"/>
              </a:rPr>
              <a:t>해결하는</a:t>
            </a:r>
            <a:r>
              <a:rPr lang="en-US" sz="9000" b="0" i="0" u="none" strike="noStrike" spc="-1000">
                <a:solidFill>
                  <a:srgbClr val="AD1515"/>
                </a:solidFill>
                <a:latin typeface="Black Han Sans Regular"/>
              </a:rPr>
              <a:t> </a:t>
            </a:r>
            <a:r>
              <a:rPr lang="ko-KR" sz="9000" b="0" i="0" u="none" strike="noStrike" spc="-1000">
                <a:solidFill>
                  <a:srgbClr val="AD1515"/>
                </a:solidFill>
                <a:ea typeface="Black Han Sans Regular"/>
              </a:rPr>
              <a:t>방법</a:t>
            </a:r>
            <a:r>
              <a:rPr lang="en-US" sz="9000" b="0" i="0" u="none" strike="noStrike" spc="-1000">
                <a:solidFill>
                  <a:srgbClr val="AD1515"/>
                </a:solidFill>
                <a:latin typeface="Black Han Sans Regular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6200000">
            <a:off x="16357600" y="9029700"/>
            <a:ext cx="2032000" cy="49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87500"/>
            <a:ext cx="9258300" cy="417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998200" y="1574800"/>
            <a:ext cx="5156200" cy="513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0940"/>
              </a:lnSpc>
            </a:pPr>
            <a:r>
              <a:rPr lang="en-US" sz="2800" b="0" i="0" u="none" strike="noStrike" spc="-100">
                <a:solidFill>
                  <a:srgbClr val="AD1515"/>
                </a:solidFill>
                <a:latin typeface="S-Core Dream 6 Bold"/>
              </a:rPr>
              <a:t>1. </a:t>
            </a:r>
            <a:r>
              <a:rPr lang="ko-KR" sz="2800" b="0" i="0" u="none" strike="noStrike" spc="-100">
                <a:solidFill>
                  <a:srgbClr val="AD1515"/>
                </a:solidFill>
                <a:ea typeface="S-Core Dream 6 Bold"/>
              </a:rPr>
              <a:t>손잡이</a:t>
            </a:r>
            <a:r>
              <a:rPr lang="en-US" sz="28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800" b="0" i="0" u="none" strike="noStrike" spc="-100">
                <a:solidFill>
                  <a:srgbClr val="AD1515"/>
                </a:solidFill>
                <a:ea typeface="S-Core Dream 6 Bold"/>
              </a:rPr>
              <a:t>결함으로</a:t>
            </a:r>
            <a:r>
              <a:rPr lang="en-US" sz="28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800" b="0" i="0" u="none" strike="noStrike" spc="-100">
                <a:solidFill>
                  <a:srgbClr val="AD1515"/>
                </a:solidFill>
                <a:ea typeface="S-Core Dream 6 Bold"/>
              </a:rPr>
              <a:t>인한</a:t>
            </a:r>
            <a:r>
              <a:rPr lang="en-US" sz="28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800" b="0" i="0" u="none" strike="noStrike" spc="-100">
                <a:solidFill>
                  <a:srgbClr val="AD1515"/>
                </a:solidFill>
                <a:ea typeface="S-Core Dream 6 Bold"/>
              </a:rPr>
              <a:t>갇힘</a:t>
            </a:r>
            <a:r>
              <a:rPr lang="en-US" sz="28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800" b="0" i="0" u="none" strike="noStrike" spc="-100">
                <a:solidFill>
                  <a:srgbClr val="AD1515"/>
                </a:solidFill>
                <a:ea typeface="S-Core Dream 6 Bold"/>
              </a:rPr>
              <a:t>사고</a:t>
            </a:r>
          </a:p>
          <a:p>
            <a:pPr lvl="0" algn="l">
              <a:lnSpc>
                <a:spcPct val="180940"/>
              </a:lnSpc>
            </a:pPr>
            <a:r>
              <a:rPr lang="en-US" sz="2800" b="0" i="0" u="none" strike="noStrike" spc="-100">
                <a:solidFill>
                  <a:srgbClr val="AD1515"/>
                </a:solidFill>
                <a:latin typeface="S-Core Dream 6 Bold"/>
              </a:rPr>
              <a:t>2. </a:t>
            </a:r>
            <a:r>
              <a:rPr lang="ko-KR" sz="2800" b="0" i="0" u="none" strike="noStrike" spc="-100">
                <a:solidFill>
                  <a:srgbClr val="AD1515"/>
                </a:solidFill>
                <a:ea typeface="S-Core Dream 6 Bold"/>
              </a:rPr>
              <a:t>해결방법</a:t>
            </a:r>
          </a:p>
          <a:p>
            <a:pPr lvl="0" algn="l">
              <a:lnSpc>
                <a:spcPct val="180940"/>
              </a:lnSpc>
            </a:pPr>
            <a:r>
              <a:rPr lang="en-US" sz="2800" b="0" i="0" u="none" strike="noStrike" spc="-100">
                <a:solidFill>
                  <a:srgbClr val="AD1515"/>
                </a:solidFill>
                <a:latin typeface="S-Core Dream 6 Bold"/>
              </a:rPr>
              <a:t>3. </a:t>
            </a:r>
            <a:r>
              <a:rPr lang="ko-KR" sz="2800" b="0" i="0" u="none" strike="noStrike" spc="-100">
                <a:solidFill>
                  <a:srgbClr val="AD1515"/>
                </a:solidFill>
                <a:ea typeface="S-Core Dream 6 Bold"/>
              </a:rPr>
              <a:t>특허품의</a:t>
            </a:r>
            <a:r>
              <a:rPr lang="en-US" sz="28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800" b="0" i="0" u="none" strike="noStrike" spc="-100">
                <a:solidFill>
                  <a:srgbClr val="AD1515"/>
                </a:solidFill>
                <a:ea typeface="S-Core Dream 6 Bold"/>
              </a:rPr>
              <a:t>설계</a:t>
            </a:r>
            <a:r>
              <a:rPr lang="en-US" sz="28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800" b="0" i="0" u="none" strike="noStrike" spc="-100">
                <a:solidFill>
                  <a:srgbClr val="AD1515"/>
                </a:solidFill>
                <a:ea typeface="S-Core Dream 6 Bold"/>
              </a:rPr>
              <a:t>및</a:t>
            </a:r>
            <a:r>
              <a:rPr lang="en-US" sz="28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800" b="0" i="0" u="none" strike="noStrike" spc="-100">
                <a:solidFill>
                  <a:srgbClr val="AD1515"/>
                </a:solidFill>
                <a:ea typeface="S-Core Dream 6 Bold"/>
              </a:rPr>
              <a:t>구조</a:t>
            </a:r>
          </a:p>
          <a:p>
            <a:pPr lvl="0" algn="l">
              <a:lnSpc>
                <a:spcPct val="180940"/>
              </a:lnSpc>
            </a:pPr>
            <a:r>
              <a:rPr lang="en-US" sz="2800" b="0" i="0" u="none" strike="noStrike" spc="-100">
                <a:solidFill>
                  <a:srgbClr val="AD1515"/>
                </a:solidFill>
                <a:latin typeface="S-Core Dream 6 Bold"/>
              </a:rPr>
              <a:t>4. </a:t>
            </a:r>
            <a:r>
              <a:rPr lang="ko-KR" sz="2800" b="0" i="0" u="none" strike="noStrike" spc="-100">
                <a:solidFill>
                  <a:srgbClr val="AD1515"/>
                </a:solidFill>
                <a:ea typeface="S-Core Dream 6 Bold"/>
              </a:rPr>
              <a:t>특허품</a:t>
            </a:r>
            <a:r>
              <a:rPr lang="en-US" sz="28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800" b="0" i="0" u="none" strike="noStrike" spc="-100">
                <a:solidFill>
                  <a:srgbClr val="AD1515"/>
                </a:solidFill>
                <a:ea typeface="S-Core Dream 6 Bold"/>
              </a:rPr>
              <a:t>선점을</a:t>
            </a:r>
            <a:r>
              <a:rPr lang="en-US" sz="28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800" b="0" i="0" u="none" strike="noStrike" spc="-100">
                <a:solidFill>
                  <a:srgbClr val="AD1515"/>
                </a:solidFill>
                <a:ea typeface="S-Core Dream 6 Bold"/>
              </a:rPr>
              <a:t>통한</a:t>
            </a:r>
            <a:r>
              <a:rPr lang="en-US" sz="28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800" b="0" i="0" u="none" strike="noStrike" spc="-100">
                <a:solidFill>
                  <a:srgbClr val="AD1515"/>
                </a:solidFill>
                <a:ea typeface="S-Core Dream 6 Bold"/>
              </a:rPr>
              <a:t>이점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7000" y="2971800"/>
            <a:ext cx="1079500" cy="1270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841500" y="2527300"/>
            <a:ext cx="7188200" cy="194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369"/>
              </a:lnSpc>
            </a:pPr>
            <a:r>
              <a:rPr lang="en-US" sz="10900" b="0" i="0" u="none" strike="noStrike" spc="-400">
                <a:solidFill>
                  <a:srgbClr val="AD1515"/>
                </a:solidFill>
                <a:latin typeface="Alfa Slab One"/>
              </a:rPr>
              <a:t>Overview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8623300"/>
            <a:ext cx="1028700" cy="1028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47700" y="8864600"/>
            <a:ext cx="7239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369"/>
              </a:lnSpc>
            </a:pPr>
            <a:r>
              <a:rPr lang="en-US" sz="3200" b="0" i="0" u="none" strike="noStrike" spc="-100">
                <a:solidFill>
                  <a:srgbClr val="AD1515"/>
                </a:solidFill>
                <a:latin typeface="Alfa Slab One"/>
              </a:rPr>
              <a:t>02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6200000">
            <a:off x="165100" y="762000"/>
            <a:ext cx="2032000" cy="4953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841500" y="1270000"/>
            <a:ext cx="9740900" cy="283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84660"/>
              </a:lnSpc>
            </a:pP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손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err="1" smtClean="0">
                <a:solidFill>
                  <a:srgbClr val="AD1515"/>
                </a:solidFill>
                <a:ea typeface="Black Han Sans Regular"/>
              </a:rPr>
              <a:t>잡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이</a:t>
            </a:r>
            <a:r>
              <a:rPr lang="en-US" sz="9200" b="0" i="0" u="none" strike="noStrike" spc="-1000" dirty="0" smtClean="0">
                <a:solidFill>
                  <a:srgbClr val="AD1515"/>
                </a:solidFill>
                <a:latin typeface="Black Han Sans Regular"/>
              </a:rPr>
              <a:t> 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결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함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err="1" smtClean="0">
                <a:solidFill>
                  <a:srgbClr val="AD1515"/>
                </a:solidFill>
                <a:ea typeface="Black Han Sans Regular"/>
              </a:rPr>
              <a:t>으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로</a:t>
            </a:r>
            <a:r>
              <a:rPr lang="en-US" sz="9200" b="0" i="0" u="none" strike="noStrike" spc="-1000" dirty="0">
                <a:solidFill>
                  <a:srgbClr val="AD1515"/>
                </a:solidFill>
                <a:latin typeface="Black Han Sans Regular"/>
              </a:rPr>
              <a:t> </a:t>
            </a:r>
            <a:r>
              <a:rPr lang="en-US" sz="9200" b="0" i="0" u="none" strike="noStrike" spc="-1000" dirty="0" smtClean="0">
                <a:solidFill>
                  <a:srgbClr val="AD1515"/>
                </a:solidFill>
                <a:latin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인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한</a:t>
            </a:r>
            <a:r>
              <a:rPr lang="en-US" sz="9200" b="0" i="0" u="none" strike="noStrike" spc="-1000" dirty="0" smtClean="0">
                <a:solidFill>
                  <a:srgbClr val="AD1515"/>
                </a:solidFill>
                <a:latin typeface="Black Han Sans Regular"/>
              </a:rPr>
              <a:t> </a:t>
            </a:r>
            <a:r>
              <a:rPr lang="ko-KR" sz="9200" b="0" i="0" u="none" strike="noStrike" spc="-1000" dirty="0" err="1" smtClean="0">
                <a:solidFill>
                  <a:srgbClr val="AD1515"/>
                </a:solidFill>
                <a:ea typeface="Black Han Sans Regular"/>
              </a:rPr>
              <a:t>갇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힘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사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고</a:t>
            </a:r>
            <a:endParaRPr lang="ko-KR" sz="9200" b="0" i="0" u="none" strike="noStrike" spc="-1000" dirty="0">
              <a:solidFill>
                <a:srgbClr val="AD1515"/>
              </a:solidFill>
              <a:ea typeface="Black Han Sans Regula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41500" y="4254500"/>
            <a:ext cx="5803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9239"/>
              </a:lnSpc>
            </a:pP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갇힘사고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,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결코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남의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일이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아닙니다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.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41500" y="5461000"/>
            <a:ext cx="8877300" cy="171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검색포털에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'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화장실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갇힘사고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'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라고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검색해보면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우리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주위에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손잡이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결함으로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인한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화장실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갇힘사고가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많이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일어나고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있다는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사실을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쉽게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확인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할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수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있습니다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. 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그렇다면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해결책은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없는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걸까요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???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3100" y="4864100"/>
            <a:ext cx="1181100" cy="1270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9300" y="50800"/>
            <a:ext cx="5080000" cy="678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75100" y="8648700"/>
            <a:ext cx="1028700" cy="1028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827500" y="8890000"/>
            <a:ext cx="7239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369"/>
              </a:lnSpc>
            </a:pPr>
            <a:r>
              <a:rPr lang="en-US" sz="3200" b="0" i="0" u="none" strike="noStrike" spc="-100">
                <a:solidFill>
                  <a:srgbClr val="AD1515"/>
                </a:solidFill>
                <a:latin typeface="Alfa Slab One"/>
              </a:rPr>
              <a:t>03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6200000">
            <a:off x="165100" y="762000"/>
            <a:ext cx="2032000" cy="4953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841500" y="342900"/>
            <a:ext cx="8445500" cy="165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4660"/>
              </a:lnSpc>
            </a:pPr>
            <a:r>
              <a:rPr lang="ko-KR" sz="9200" b="0" i="0" u="none" strike="noStrike" spc="-1000" dirty="0" err="1" smtClean="0">
                <a:solidFill>
                  <a:srgbClr val="AD1515"/>
                </a:solidFill>
                <a:ea typeface="Black Han Sans Regular"/>
              </a:rPr>
              <a:t>갇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힘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사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고</a:t>
            </a:r>
            <a:r>
              <a:rPr lang="en-US" sz="9200" b="0" i="0" u="none" strike="noStrike" spc="-1000" dirty="0" smtClean="0">
                <a:solidFill>
                  <a:srgbClr val="AD1515"/>
                </a:solidFill>
                <a:latin typeface="Black Han Sans Regular"/>
              </a:rPr>
              <a:t> 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해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결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방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법</a:t>
            </a:r>
            <a:endParaRPr lang="ko-KR" sz="9200" b="0" i="0" u="none" strike="noStrike" spc="-1000" dirty="0">
              <a:solidFill>
                <a:srgbClr val="AD1515"/>
              </a:solidFill>
              <a:ea typeface="Black Han Sans Regular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3100" y="4864100"/>
            <a:ext cx="1181100" cy="1270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3100" y="9258300"/>
            <a:ext cx="1028700" cy="1028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7348200" y="9499600"/>
            <a:ext cx="7239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369"/>
              </a:lnSpc>
            </a:pPr>
            <a:r>
              <a:rPr lang="en-US" sz="3200" b="0" i="0" u="none" strike="noStrike" spc="-100">
                <a:solidFill>
                  <a:srgbClr val="AD1515"/>
                </a:solidFill>
                <a:latin typeface="Alfa Slab One"/>
              </a:rPr>
              <a:t>04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" y="2413000"/>
            <a:ext cx="8483600" cy="3708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727200" y="2933700"/>
            <a:ext cx="5803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9239"/>
              </a:lnSpc>
            </a:pPr>
            <a:r>
              <a:rPr lang="ko-KR" sz="2400" b="0" i="0" u="none" strike="noStrike" spc="-100" dirty="0" err="1">
                <a:solidFill>
                  <a:srgbClr val="AD1515"/>
                </a:solidFill>
                <a:ea typeface="S-Core Dream 6 Bold"/>
              </a:rPr>
              <a:t>첫번째</a:t>
            </a:r>
            <a:r>
              <a:rPr lang="en-US" sz="2400" b="0" i="0" u="none" strike="noStrike" spc="-100" dirty="0">
                <a:solidFill>
                  <a:srgbClr val="AD1515"/>
                </a:solidFill>
                <a:latin typeface="S-Core Dream 6 Bold"/>
              </a:rPr>
              <a:t>, </a:t>
            </a:r>
            <a:r>
              <a:rPr lang="ko-KR" sz="2400" b="0" i="0" u="none" strike="noStrike" spc="-100" dirty="0">
                <a:solidFill>
                  <a:srgbClr val="AD1515"/>
                </a:solidFill>
                <a:ea typeface="S-Core Dream 6 Bold"/>
              </a:rPr>
              <a:t>핸드폰을</a:t>
            </a:r>
            <a:r>
              <a:rPr lang="en-US" sz="2400" b="0" i="0" u="none" strike="noStrike" spc="-100" dirty="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 dirty="0">
                <a:solidFill>
                  <a:srgbClr val="AD1515"/>
                </a:solidFill>
                <a:ea typeface="S-Core Dream 6 Bold"/>
              </a:rPr>
              <a:t>들고</a:t>
            </a:r>
            <a:r>
              <a:rPr lang="en-US" sz="2400" b="0" i="0" u="none" strike="noStrike" spc="-100" dirty="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 dirty="0">
                <a:solidFill>
                  <a:srgbClr val="AD1515"/>
                </a:solidFill>
                <a:ea typeface="S-Core Dream 6 Bold"/>
              </a:rPr>
              <a:t>화장실에</a:t>
            </a:r>
            <a:r>
              <a:rPr lang="en-US" sz="2400" b="0" i="0" u="none" strike="noStrike" spc="-100" dirty="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 dirty="0">
                <a:solidFill>
                  <a:srgbClr val="AD1515"/>
                </a:solidFill>
                <a:ea typeface="S-Core Dream 6 Bold"/>
              </a:rPr>
              <a:t>들어간다</a:t>
            </a:r>
            <a:r>
              <a:rPr lang="en-US" sz="2400" b="0" i="0" u="none" strike="noStrike" spc="-100" dirty="0">
                <a:solidFill>
                  <a:srgbClr val="AD1515"/>
                </a:solidFill>
                <a:latin typeface="S-Core Dream 6 Bold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7200" y="3733800"/>
            <a:ext cx="7251700" cy="172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ko-KR" sz="2200" b="0" i="0" u="none" strike="noStrike" spc="-200" dirty="0" err="1">
                <a:solidFill>
                  <a:srgbClr val="AD1515"/>
                </a:solidFill>
                <a:ea typeface="S-Core Dream 4 Regular"/>
              </a:rPr>
              <a:t>샤워할때나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볼일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 err="1">
                <a:solidFill>
                  <a:srgbClr val="AD1515"/>
                </a:solidFill>
                <a:ea typeface="S-Core Dream 4 Regular"/>
              </a:rPr>
              <a:t>볼때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항상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핸드폰을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 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들고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가서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문이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잠긴다면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지인이나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119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신고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해서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구조를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받는다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.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만약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핸드폰을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 err="1">
                <a:solidFill>
                  <a:srgbClr val="AD1515"/>
                </a:solidFill>
                <a:ea typeface="S-Core Dream 4 Regular"/>
              </a:rPr>
              <a:t>안들고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갔다면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?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문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밖에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있는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AI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에게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소리를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쳐서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119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신고를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한다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. 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그런데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핸드폰이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목소리가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닿지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않는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곳에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있다면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?? 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01500" y="0"/>
            <a:ext cx="5194300" cy="5854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01500" y="5778500"/>
            <a:ext cx="5207000" cy="3898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6489700"/>
            <a:ext cx="8483600" cy="3403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727200" y="7086600"/>
            <a:ext cx="5803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9239"/>
              </a:lnSpc>
            </a:pP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두번째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,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창문을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이용하여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도움을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구한다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7200" y="7823200"/>
            <a:ext cx="74803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창문으로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수건을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흔들거나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두루마리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휴지를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펼쳐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위급한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상황임을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알리고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큰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소리로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구조를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요청한다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.  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그런데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..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창문이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없는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화장실에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갇혔다면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?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5143500"/>
            <a:ext cx="5207000" cy="514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143000"/>
            <a:ext cx="8483600" cy="3708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6200000">
            <a:off x="16179800" y="762000"/>
            <a:ext cx="2032000" cy="495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27200" y="1562100"/>
            <a:ext cx="65786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9239"/>
              </a:lnSpc>
            </a:pPr>
            <a:r>
              <a:rPr lang="ko-KR" sz="2400" b="0" i="0" u="none" strike="noStrike" spc="-100" dirty="0" err="1">
                <a:solidFill>
                  <a:srgbClr val="AD1515"/>
                </a:solidFill>
                <a:ea typeface="S-Core Dream 6 Bold"/>
              </a:rPr>
              <a:t>세번째</a:t>
            </a:r>
            <a:r>
              <a:rPr lang="en-US" sz="2400" b="0" i="0" u="none" strike="noStrike" spc="-100" dirty="0">
                <a:solidFill>
                  <a:srgbClr val="AD1515"/>
                </a:solidFill>
                <a:latin typeface="S-Core Dream 6 Bold"/>
              </a:rPr>
              <a:t>, </a:t>
            </a:r>
            <a:r>
              <a:rPr lang="ko-KR" sz="2400" b="0" i="0" u="none" strike="noStrike" spc="-100" dirty="0">
                <a:solidFill>
                  <a:srgbClr val="AD1515"/>
                </a:solidFill>
                <a:ea typeface="S-Core Dream 6 Bold"/>
              </a:rPr>
              <a:t>단단한</a:t>
            </a:r>
            <a:r>
              <a:rPr lang="en-US" sz="2400" b="0" i="0" u="none" strike="noStrike" spc="-100" dirty="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 dirty="0">
                <a:solidFill>
                  <a:srgbClr val="AD1515"/>
                </a:solidFill>
                <a:ea typeface="S-Core Dream 6 Bold"/>
              </a:rPr>
              <a:t>물건을</a:t>
            </a:r>
            <a:r>
              <a:rPr lang="en-US" sz="2400" b="0" i="0" u="none" strike="noStrike" spc="-100" dirty="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 dirty="0">
                <a:solidFill>
                  <a:srgbClr val="AD1515"/>
                </a:solidFill>
                <a:ea typeface="S-Core Dream 6 Bold"/>
              </a:rPr>
              <a:t>탈출수단으로</a:t>
            </a:r>
            <a:r>
              <a:rPr lang="en-US" sz="2400" b="0" i="0" u="none" strike="noStrike" spc="-100" dirty="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 dirty="0">
                <a:solidFill>
                  <a:srgbClr val="AD1515"/>
                </a:solidFill>
                <a:ea typeface="S-Core Dream 6 Bold"/>
              </a:rPr>
              <a:t>이용한다</a:t>
            </a:r>
            <a:r>
              <a:rPr lang="en-US" sz="2400" b="0" i="0" u="none" strike="noStrike" spc="-100" dirty="0">
                <a:solidFill>
                  <a:srgbClr val="AD1515"/>
                </a:solidFill>
                <a:latin typeface="S-Core Dream 6 Bold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7200" y="2463800"/>
            <a:ext cx="7251700" cy="171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ko-KR" sz="2200" b="0" i="0" u="none" strike="noStrike" spc="-200" dirty="0" smtClean="0">
                <a:solidFill>
                  <a:srgbClr val="AD1515"/>
                </a:solidFill>
                <a:ea typeface="S-Core Dream 4 Regular"/>
              </a:rPr>
              <a:t>변기</a:t>
            </a:r>
            <a:r>
              <a:rPr lang="en-US" sz="2200" b="0" i="0" u="none" strike="noStrike" spc="-200" dirty="0" smtClean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뚜껑으로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손잡이를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부순다거나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세면대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뒤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파이프를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이용하여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문을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부수는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등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단단한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물건을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찾아서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탈출을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 err="1">
                <a:solidFill>
                  <a:srgbClr val="AD1515"/>
                </a:solidFill>
                <a:ea typeface="S-Core Dream 4 Regular"/>
              </a:rPr>
              <a:t>해야한다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.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어떤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이는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화장실에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있는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가족의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립스틱과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 err="1">
                <a:solidFill>
                  <a:srgbClr val="AD1515"/>
                </a:solidFill>
                <a:ea typeface="S-Core Dream 4 Regular"/>
              </a:rPr>
              <a:t>손장이를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을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이용해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 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탈출에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성공했다고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한다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.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만약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단단한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물건을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이용할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수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없다면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? 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75100" y="8686800"/>
            <a:ext cx="1028700" cy="1028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6827500" y="8928100"/>
            <a:ext cx="7239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369"/>
              </a:lnSpc>
            </a:pPr>
            <a:r>
              <a:rPr lang="en-US" sz="3200" b="0" i="0" u="none" strike="noStrike" spc="-100">
                <a:solidFill>
                  <a:srgbClr val="AD1515"/>
                </a:solidFill>
                <a:latin typeface="Alfa Slab One"/>
              </a:rPr>
              <a:t>05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" y="5499100"/>
            <a:ext cx="8483600" cy="2705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727200" y="5981700"/>
            <a:ext cx="5803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9239"/>
              </a:lnSpc>
            </a:pP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네번째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,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물로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버티며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누군가를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기다린다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.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7200" y="6743700"/>
            <a:ext cx="72517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ko-KR" sz="2200" b="0" i="0" u="none" strike="noStrike" spc="-200" dirty="0" err="1">
                <a:solidFill>
                  <a:srgbClr val="AD1515"/>
                </a:solidFill>
                <a:ea typeface="S-Core Dream 4 Regular"/>
              </a:rPr>
              <a:t>세번째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방법까지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할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수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없다면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수돗물로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수분을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보충하고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옷과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수건으로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체온을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 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유지하며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구조를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기다릴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수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밖에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없다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. 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0600" y="-660400"/>
            <a:ext cx="5194300" cy="58039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104900" y="8826500"/>
            <a:ext cx="58293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9239"/>
              </a:lnSpc>
            </a:pPr>
            <a:r>
              <a:rPr lang="en-US" sz="3000" b="0" i="0" u="none" strike="noStrike" spc="-200">
                <a:solidFill>
                  <a:srgbClr val="AD1515"/>
                </a:solidFill>
                <a:latin typeface="S-Core Dream 6 Bold"/>
              </a:rPr>
              <a:t>....</a:t>
            </a:r>
            <a:r>
              <a:rPr lang="ko-KR" sz="3000" b="0" i="0" u="none" strike="noStrike" spc="-200">
                <a:solidFill>
                  <a:srgbClr val="AD1515"/>
                </a:solidFill>
                <a:ea typeface="S-Core Dream 6 Bold"/>
              </a:rPr>
              <a:t>정말</a:t>
            </a:r>
            <a:r>
              <a:rPr lang="en-US" sz="3000" b="0" i="0" u="none" strike="noStrike" spc="-2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3000" b="0" i="0" u="none" strike="noStrike" spc="-200">
                <a:solidFill>
                  <a:srgbClr val="AD1515"/>
                </a:solidFill>
                <a:ea typeface="S-Core Dream 6 Bold"/>
              </a:rPr>
              <a:t>이런</a:t>
            </a:r>
            <a:r>
              <a:rPr lang="en-US" sz="3000" b="0" i="0" u="none" strike="noStrike" spc="-2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3000" b="0" i="0" u="none" strike="noStrike" spc="-200">
                <a:solidFill>
                  <a:srgbClr val="AD1515"/>
                </a:solidFill>
                <a:ea typeface="S-Core Dream 6 Bold"/>
              </a:rPr>
              <a:t>방법</a:t>
            </a:r>
            <a:r>
              <a:rPr lang="en-US" sz="3000" b="0" i="0" u="none" strike="noStrike" spc="-2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3000" b="0" i="0" u="none" strike="noStrike" spc="-200">
                <a:solidFill>
                  <a:srgbClr val="AD1515"/>
                </a:solidFill>
                <a:ea typeface="S-Core Dream 6 Bold"/>
              </a:rPr>
              <a:t>밖에</a:t>
            </a:r>
            <a:r>
              <a:rPr lang="en-US" sz="3000" b="0" i="0" u="none" strike="noStrike" spc="-2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3000" b="0" i="0" u="none" strike="noStrike" spc="-200">
                <a:solidFill>
                  <a:srgbClr val="AD1515"/>
                </a:solidFill>
                <a:ea typeface="S-Core Dream 6 Bold"/>
              </a:rPr>
              <a:t>없는</a:t>
            </a:r>
            <a:r>
              <a:rPr lang="en-US" sz="3000" b="0" i="0" u="none" strike="noStrike" spc="-2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3000" b="0" i="0" u="none" strike="noStrike" spc="-200">
                <a:solidFill>
                  <a:srgbClr val="AD1515"/>
                </a:solidFill>
                <a:ea typeface="S-Core Dream 6 Bold"/>
              </a:rPr>
              <a:t>걸까요</a:t>
            </a:r>
            <a:r>
              <a:rPr lang="en-US" sz="3000" b="0" i="0" u="none" strike="noStrike" spc="-200">
                <a:solidFill>
                  <a:srgbClr val="AD1515"/>
                </a:solidFill>
                <a:latin typeface="S-Core Dream 6 Bold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1104900"/>
            <a:ext cx="10007600" cy="7899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70100" y="3657600"/>
            <a:ext cx="8674100" cy="148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4660"/>
              </a:lnSpc>
            </a:pPr>
            <a:r>
              <a:rPr lang="ko-KR" sz="8400" b="0" i="0" u="none" strike="noStrike" spc="-900" dirty="0" smtClean="0">
                <a:solidFill>
                  <a:srgbClr val="AD1515"/>
                </a:solidFill>
                <a:ea typeface="Black Han Sans Regular"/>
              </a:rPr>
              <a:t>정</a:t>
            </a:r>
            <a:r>
              <a:rPr lang="en-US" altLang="ko-KR" sz="8400" b="0" i="0" u="none" strike="noStrike" spc="-9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8400" b="0" i="0" u="none" strike="noStrike" spc="-900" dirty="0" smtClean="0">
                <a:solidFill>
                  <a:srgbClr val="AD1515"/>
                </a:solidFill>
                <a:ea typeface="Black Han Sans Regular"/>
              </a:rPr>
              <a:t>말</a:t>
            </a:r>
            <a:r>
              <a:rPr lang="en-US" sz="8400" b="0" i="0" u="none" strike="noStrike" spc="-900" dirty="0" smtClean="0">
                <a:solidFill>
                  <a:srgbClr val="AD1515"/>
                </a:solidFill>
                <a:latin typeface="Black Han Sans Regular"/>
              </a:rPr>
              <a:t>  </a:t>
            </a:r>
            <a:r>
              <a:rPr lang="ko-KR" sz="8400" b="0" i="0" u="none" strike="noStrike" spc="-900" dirty="0" smtClean="0">
                <a:solidFill>
                  <a:srgbClr val="AD1515"/>
                </a:solidFill>
                <a:ea typeface="Black Han Sans Regular"/>
              </a:rPr>
              <a:t>이</a:t>
            </a:r>
            <a:r>
              <a:rPr lang="en-US" altLang="ko-KR" sz="8400" b="0" i="0" u="none" strike="noStrike" spc="-9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8400" b="0" i="0" u="none" strike="noStrike" spc="-900" dirty="0" smtClean="0">
                <a:solidFill>
                  <a:srgbClr val="AD1515"/>
                </a:solidFill>
                <a:ea typeface="Black Han Sans Regular"/>
              </a:rPr>
              <a:t>게</a:t>
            </a:r>
            <a:r>
              <a:rPr lang="en-US" sz="8400" b="0" i="0" u="none" strike="noStrike" spc="-900" dirty="0" smtClean="0">
                <a:solidFill>
                  <a:srgbClr val="AD1515"/>
                </a:solidFill>
                <a:latin typeface="Black Han Sans Regular"/>
              </a:rPr>
              <a:t>  </a:t>
            </a:r>
            <a:r>
              <a:rPr lang="ko-KR" sz="8400" b="0" i="0" u="none" strike="noStrike" spc="-900" dirty="0" smtClean="0">
                <a:solidFill>
                  <a:srgbClr val="AD1515"/>
                </a:solidFill>
                <a:ea typeface="Black Han Sans Regular"/>
              </a:rPr>
              <a:t>최</a:t>
            </a:r>
            <a:r>
              <a:rPr lang="en-US" altLang="ko-KR" sz="8400" b="0" i="0" u="none" strike="noStrike" spc="-9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8400" b="0" i="0" u="none" strike="noStrike" spc="-900" dirty="0" smtClean="0">
                <a:solidFill>
                  <a:srgbClr val="AD1515"/>
                </a:solidFill>
                <a:ea typeface="Black Han Sans Regular"/>
              </a:rPr>
              <a:t>선</a:t>
            </a:r>
            <a:r>
              <a:rPr lang="en-US" altLang="ko-KR" sz="8400" b="0" i="0" u="none" strike="noStrike" spc="-9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8400" b="0" i="0" u="none" strike="noStrike" spc="-900" dirty="0" smtClean="0">
                <a:solidFill>
                  <a:srgbClr val="AD1515"/>
                </a:solidFill>
                <a:ea typeface="Black Han Sans Regular"/>
              </a:rPr>
              <a:t>일</a:t>
            </a:r>
            <a:r>
              <a:rPr lang="en-US" altLang="ko-KR" sz="8400" b="0" i="0" u="none" strike="noStrike" spc="-9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8400" b="0" i="0" u="none" strike="noStrike" spc="-900" dirty="0" smtClean="0">
                <a:solidFill>
                  <a:srgbClr val="AD1515"/>
                </a:solidFill>
                <a:ea typeface="Black Han Sans Regular"/>
              </a:rPr>
              <a:t>까</a:t>
            </a:r>
            <a:r>
              <a:rPr lang="en-US" altLang="ko-KR" sz="8400" b="0" i="0" u="none" strike="noStrike" spc="-9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en-US" sz="8400" b="0" i="0" u="none" strike="noStrike" spc="-900" dirty="0" smtClean="0">
                <a:solidFill>
                  <a:srgbClr val="AD1515"/>
                </a:solidFill>
                <a:latin typeface="Black Han Sans Regular"/>
              </a:rPr>
              <a:t>?</a:t>
            </a:r>
            <a:r>
              <a:rPr lang="en-US" sz="8400" b="0" i="0" u="none" strike="noStrike" spc="-900" dirty="0">
                <a:solidFill>
                  <a:srgbClr val="AD1515"/>
                </a:solidFill>
                <a:latin typeface="Black Han Sans Regular"/>
              </a:rPr>
              <a:t> 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6600" y="6731000"/>
            <a:ext cx="1104900" cy="1270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3500" y="1104900"/>
            <a:ext cx="1028700" cy="1028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6764000" y="1346200"/>
            <a:ext cx="6477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369"/>
              </a:lnSpc>
            </a:pPr>
            <a:r>
              <a:rPr lang="en-US" sz="3200" b="0" i="0" u="none" strike="noStrike" spc="-100">
                <a:solidFill>
                  <a:srgbClr val="AD1515"/>
                </a:solidFill>
                <a:latin typeface="Alfa Slab One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98700" y="6946900"/>
            <a:ext cx="74549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이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특허품은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수많은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노약자분들과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여성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,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아이들을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 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생각하고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31970"/>
              </a:lnSpc>
            </a:pP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'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이렇게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갇힘사고를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예방할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방법이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없다고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??'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라는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질문을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되물으며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고민고민하여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 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만든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제품입니다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. 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15214600" y="8737600"/>
            <a:ext cx="20320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6200000">
            <a:off x="-190500" y="1130300"/>
            <a:ext cx="2743200" cy="4953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841500" y="876300"/>
            <a:ext cx="11391900" cy="165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4660"/>
              </a:lnSpc>
            </a:pPr>
            <a:r>
              <a:rPr lang="ko-KR" sz="9200" b="0" i="0" u="none" strike="noStrike" spc="-1000" dirty="0" err="1" smtClean="0">
                <a:solidFill>
                  <a:srgbClr val="AD1515"/>
                </a:solidFill>
                <a:ea typeface="Black Han Sans Regular"/>
              </a:rPr>
              <a:t>특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허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품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의</a:t>
            </a:r>
            <a:r>
              <a:rPr lang="en-US" sz="9200" b="0" i="0" u="none" strike="noStrike" spc="-1000" dirty="0" smtClean="0">
                <a:solidFill>
                  <a:srgbClr val="AD1515"/>
                </a:solidFill>
                <a:latin typeface="Black Han Sans Regular"/>
              </a:rPr>
              <a:t> 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설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계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와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en-US" sz="9200" b="0" i="0" u="none" strike="noStrike" spc="-1000" dirty="0" smtClean="0">
                <a:solidFill>
                  <a:srgbClr val="AD1515"/>
                </a:solidFill>
                <a:latin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구</a:t>
            </a:r>
            <a:r>
              <a:rPr lang="en-US" alt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 </a:t>
            </a:r>
            <a:r>
              <a:rPr lang="ko-KR" sz="9200" b="0" i="0" u="none" strike="noStrike" spc="-1000" dirty="0" smtClean="0">
                <a:solidFill>
                  <a:srgbClr val="AD1515"/>
                </a:solidFill>
                <a:ea typeface="Black Han Sans Regular"/>
              </a:rPr>
              <a:t>조</a:t>
            </a:r>
            <a:endParaRPr lang="ko-KR" sz="9200" b="0" i="0" u="none" strike="noStrike" spc="-1000" dirty="0">
              <a:solidFill>
                <a:srgbClr val="AD1515"/>
              </a:solidFill>
              <a:ea typeface="Black Han Sans Regula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41500" y="2349500"/>
            <a:ext cx="5803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9239"/>
              </a:lnSpc>
            </a:pP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고민과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고뇌의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결과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,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제품으로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탄생하다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79600" y="4826000"/>
            <a:ext cx="3390900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6910"/>
              </a:lnSpc>
            </a:pP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특허품은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기본적으로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46910"/>
              </a:lnSpc>
            </a:pP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기존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문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틀에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설치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할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수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있도록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설계가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되었습니다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8900" y="8648700"/>
            <a:ext cx="1028700" cy="1028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900" y="6921500"/>
            <a:ext cx="4292600" cy="3111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6921500"/>
            <a:ext cx="3911600" cy="311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11887200" y="6921500"/>
            <a:ext cx="3911600" cy="3111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751300" y="8890000"/>
            <a:ext cx="7239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369"/>
              </a:lnSpc>
            </a:pPr>
            <a:r>
              <a:rPr lang="en-US" sz="3200" b="0" i="0" u="none" strike="noStrike" spc="-100">
                <a:solidFill>
                  <a:srgbClr val="AD1515"/>
                </a:solidFill>
                <a:latin typeface="Alfa Slab One"/>
              </a:rPr>
              <a:t>07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41500" y="4140200"/>
            <a:ext cx="2971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9239"/>
              </a:lnSpc>
            </a:pPr>
            <a:r>
              <a:rPr lang="ko-KR" sz="2300" b="0" i="0" u="none" strike="noStrike" spc="-100">
                <a:solidFill>
                  <a:srgbClr val="AD1515"/>
                </a:solidFill>
                <a:ea typeface="S-Core Dream 6 Bold"/>
              </a:rPr>
              <a:t>특허제품의</a:t>
            </a:r>
            <a:r>
              <a:rPr lang="en-US" sz="23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300" b="0" i="0" u="none" strike="noStrike" spc="-100">
                <a:solidFill>
                  <a:srgbClr val="AD1515"/>
                </a:solidFill>
                <a:ea typeface="S-Core Dream 6 Bold"/>
              </a:rPr>
              <a:t>설계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72300" y="4140200"/>
            <a:ext cx="1955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9239"/>
              </a:lnSpc>
            </a:pPr>
            <a:r>
              <a:rPr lang="ko-KR" sz="2300" b="0" i="0" u="none" strike="noStrike" spc="-100">
                <a:solidFill>
                  <a:srgbClr val="AD1515"/>
                </a:solidFill>
                <a:ea typeface="S-Core Dream 6 Bold"/>
              </a:rPr>
              <a:t>특허품의</a:t>
            </a:r>
            <a:r>
              <a:rPr lang="en-US" sz="23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300" b="0" i="0" u="none" strike="noStrike" spc="-100">
                <a:solidFill>
                  <a:srgbClr val="AD1515"/>
                </a:solidFill>
                <a:ea typeface="S-Core Dream 6 Bold"/>
              </a:rPr>
              <a:t>구조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25300" y="4140200"/>
            <a:ext cx="2971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9239"/>
              </a:lnSpc>
            </a:pPr>
            <a:r>
              <a:rPr lang="ko-KR" sz="2300" b="0" i="0" u="none" strike="noStrike" spc="-100">
                <a:solidFill>
                  <a:srgbClr val="AD1515"/>
                </a:solidFill>
                <a:ea typeface="S-Core Dream 6 Bold"/>
              </a:rPr>
              <a:t>특허품의</a:t>
            </a:r>
            <a:r>
              <a:rPr lang="en-US" sz="23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300" b="0" i="0" u="none" strike="noStrike" spc="-100">
                <a:solidFill>
                  <a:srgbClr val="AD1515"/>
                </a:solidFill>
                <a:ea typeface="S-Core Dream 6 Bold"/>
              </a:rPr>
              <a:t>설치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46900" y="4826000"/>
            <a:ext cx="3390900" cy="179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6910"/>
              </a:lnSpc>
            </a:pP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손잡이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결함으로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래치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(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걸쇠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)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가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움직이지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 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않는다면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특허품으로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래치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(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걸쇠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)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를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강제로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문틀에서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이탈하게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하는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구조입니다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87200" y="4826000"/>
            <a:ext cx="3390900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6910"/>
              </a:lnSpc>
            </a:pP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기존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문틀에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부착되어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있던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46910"/>
              </a:lnSpc>
            </a:pP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구조물을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특허품으로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교체하여</a:t>
            </a:r>
          </a:p>
          <a:p>
            <a:pPr lvl="0" algn="l">
              <a:lnSpc>
                <a:spcPct val="146910"/>
              </a:lnSpc>
            </a:pP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 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설치한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>
                <a:solidFill>
                  <a:srgbClr val="AD1515"/>
                </a:solidFill>
                <a:ea typeface="S-Core Dream 4 Regular"/>
              </a:rPr>
              <a:t>모습입니다</a:t>
            </a:r>
            <a:r>
              <a:rPr lang="en-US" sz="2100" b="0" i="0" u="none" strike="noStrike" spc="-200">
                <a:solidFill>
                  <a:srgbClr val="AD1515"/>
                </a:solidFill>
                <a:latin typeface="S-Core Dream 4 Regular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6200000">
            <a:off x="-495300" y="8915400"/>
            <a:ext cx="3175000" cy="4953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197600" y="7810500"/>
            <a:ext cx="98806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4660"/>
              </a:lnSpc>
            </a:pPr>
            <a:r>
              <a:rPr lang="ko-KR" sz="8400" b="0" i="0" u="none" strike="noStrike" spc="-900">
                <a:solidFill>
                  <a:srgbClr val="AD1515"/>
                </a:solidFill>
                <a:ea typeface="Black Han Sans Regular"/>
              </a:rPr>
              <a:t>특허품</a:t>
            </a:r>
            <a:r>
              <a:rPr lang="en-US" sz="8400" b="0" i="0" u="none" strike="noStrike" spc="-900">
                <a:solidFill>
                  <a:srgbClr val="AD1515"/>
                </a:solidFill>
                <a:latin typeface="Black Han Sans Regular"/>
              </a:rPr>
              <a:t> </a:t>
            </a:r>
            <a:r>
              <a:rPr lang="ko-KR" sz="8400" b="0" i="0" u="none" strike="noStrike" spc="-900">
                <a:solidFill>
                  <a:srgbClr val="AD1515"/>
                </a:solidFill>
                <a:ea typeface="Black Han Sans Regular"/>
              </a:rPr>
              <a:t>선점을</a:t>
            </a:r>
            <a:r>
              <a:rPr lang="en-US" sz="8400" b="0" i="0" u="none" strike="noStrike" spc="-900">
                <a:solidFill>
                  <a:srgbClr val="AD1515"/>
                </a:solidFill>
                <a:latin typeface="Black Han Sans Regular"/>
              </a:rPr>
              <a:t> </a:t>
            </a:r>
            <a:r>
              <a:rPr lang="ko-KR" sz="8400" b="0" i="0" u="none" strike="noStrike" spc="-900">
                <a:solidFill>
                  <a:srgbClr val="AD1515"/>
                </a:solidFill>
                <a:ea typeface="Black Han Sans Regular"/>
              </a:rPr>
              <a:t>통한</a:t>
            </a:r>
            <a:r>
              <a:rPr lang="en-US" sz="8400" b="0" i="0" u="none" strike="noStrike" spc="-900">
                <a:solidFill>
                  <a:srgbClr val="AD1515"/>
                </a:solidFill>
                <a:latin typeface="Black Han Sans Regular"/>
              </a:rPr>
              <a:t> </a:t>
            </a:r>
            <a:r>
              <a:rPr lang="ko-KR" sz="8400" b="0" i="0" u="none" strike="noStrike" spc="-900">
                <a:solidFill>
                  <a:srgbClr val="AD1515"/>
                </a:solidFill>
                <a:ea typeface="Black Han Sans Regular"/>
              </a:rPr>
              <a:t>이점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2200" y="1231900"/>
            <a:ext cx="4470400" cy="1295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3500" b="0" i="0" u="none" strike="noStrike" spc="-200">
                <a:solidFill>
                  <a:srgbClr val="AD1515"/>
                </a:solidFill>
                <a:ea typeface="S-Core Dream 6 Bold"/>
              </a:rPr>
              <a:t>도어</a:t>
            </a:r>
            <a:r>
              <a:rPr lang="en-US" sz="3500" b="0" i="0" u="none" strike="noStrike" spc="-2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3500" b="0" i="0" u="none" strike="noStrike" spc="-200">
                <a:solidFill>
                  <a:srgbClr val="AD1515"/>
                </a:solidFill>
                <a:ea typeface="S-Core Dream 6 Bold"/>
              </a:rPr>
              <a:t>잠김</a:t>
            </a:r>
            <a:r>
              <a:rPr lang="en-US" sz="3500" b="0" i="0" u="none" strike="noStrike" spc="-2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3500" b="0" i="0" u="none" strike="noStrike" spc="-200">
                <a:solidFill>
                  <a:srgbClr val="AD1515"/>
                </a:solidFill>
                <a:ea typeface="S-Core Dream 6 Bold"/>
              </a:rPr>
              <a:t>해제장치</a:t>
            </a:r>
            <a:r>
              <a:rPr lang="en-US" sz="3500" b="0" i="0" u="none" strike="noStrike" spc="-200">
                <a:solidFill>
                  <a:srgbClr val="AD1515"/>
                </a:solidFill>
                <a:latin typeface="S-Core Dream 6 Bold"/>
              </a:rPr>
              <a:t>. </a:t>
            </a:r>
          </a:p>
          <a:p>
            <a:pPr lvl="0" algn="l">
              <a:lnSpc>
                <a:spcPct val="124499"/>
              </a:lnSpc>
            </a:pPr>
            <a:r>
              <a:rPr lang="ko-KR" sz="3500" b="0" i="0" u="none" strike="noStrike" spc="-200">
                <a:solidFill>
                  <a:srgbClr val="AD1515"/>
                </a:solidFill>
                <a:ea typeface="S-Core Dream 6 Bold"/>
              </a:rPr>
              <a:t>필요보단</a:t>
            </a:r>
            <a:r>
              <a:rPr lang="en-US" sz="3500" b="0" i="0" u="none" strike="noStrike" spc="-2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3500" b="0" i="0" u="none" strike="noStrike" spc="-200">
                <a:solidFill>
                  <a:srgbClr val="AD1515"/>
                </a:solidFill>
                <a:ea typeface="S-Core Dream 6 Bold"/>
              </a:rPr>
              <a:t>필수입니다</a:t>
            </a:r>
            <a:r>
              <a:rPr lang="en-US" sz="3500" b="0" i="0" u="none" strike="noStrike" spc="-200">
                <a:solidFill>
                  <a:srgbClr val="AD1515"/>
                </a:solidFill>
                <a:latin typeface="S-Core Dream 6 Bold"/>
              </a:rPr>
              <a:t>.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2200" y="3162300"/>
            <a:ext cx="4038600" cy="165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ko-KR" sz="2100" b="0" i="0" u="none" strike="noStrike" spc="-200" dirty="0">
                <a:solidFill>
                  <a:srgbClr val="AD1515"/>
                </a:solidFill>
                <a:ea typeface="S-Core Dream 4 Regular"/>
              </a:rPr>
              <a:t>습기가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 dirty="0">
                <a:solidFill>
                  <a:srgbClr val="AD1515"/>
                </a:solidFill>
                <a:ea typeface="S-Core Dream 4 Regular"/>
              </a:rPr>
              <a:t>있을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 dirty="0">
                <a:solidFill>
                  <a:srgbClr val="AD1515"/>
                </a:solidFill>
                <a:ea typeface="S-Core Dream 4 Regular"/>
              </a:rPr>
              <a:t>수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 dirty="0">
                <a:solidFill>
                  <a:srgbClr val="AD1515"/>
                </a:solidFill>
                <a:ea typeface="S-Core Dream 4 Regular"/>
              </a:rPr>
              <a:t>밖에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 dirty="0">
                <a:solidFill>
                  <a:srgbClr val="AD1515"/>
                </a:solidFill>
                <a:ea typeface="S-Core Dream 4 Regular"/>
              </a:rPr>
              <a:t>없는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 dirty="0">
                <a:solidFill>
                  <a:srgbClr val="AD1515"/>
                </a:solidFill>
                <a:ea typeface="S-Core Dream 4 Regular"/>
              </a:rPr>
              <a:t>화장실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. </a:t>
            </a:r>
          </a:p>
          <a:p>
            <a:pPr lvl="0" algn="l">
              <a:lnSpc>
                <a:spcPct val="131970"/>
              </a:lnSpc>
            </a:pPr>
            <a:r>
              <a:rPr lang="ko-KR" sz="2100" b="0" i="0" u="none" strike="noStrike" spc="-200" dirty="0">
                <a:solidFill>
                  <a:srgbClr val="AD1515"/>
                </a:solidFill>
                <a:ea typeface="S-Core Dream 4 Regular"/>
              </a:rPr>
              <a:t>구조적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 dirty="0">
                <a:solidFill>
                  <a:srgbClr val="AD1515"/>
                </a:solidFill>
                <a:ea typeface="S-Core Dream 4 Regular"/>
              </a:rPr>
              <a:t>결함이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 dirty="0" err="1">
                <a:solidFill>
                  <a:srgbClr val="AD1515"/>
                </a:solidFill>
                <a:ea typeface="S-Core Dream 4 Regular"/>
              </a:rPr>
              <a:t>있을수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 dirty="0">
                <a:solidFill>
                  <a:srgbClr val="AD1515"/>
                </a:solidFill>
                <a:ea typeface="S-Core Dream 4 Regular"/>
              </a:rPr>
              <a:t>있는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 dirty="0">
                <a:solidFill>
                  <a:srgbClr val="AD1515"/>
                </a:solidFill>
                <a:ea typeface="S-Core Dream 4 Regular"/>
              </a:rPr>
              <a:t>손잡이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.</a:t>
            </a:r>
          </a:p>
          <a:p>
            <a:pPr lvl="0" algn="l">
              <a:lnSpc>
                <a:spcPct val="131970"/>
              </a:lnSpc>
            </a:pPr>
            <a:r>
              <a:rPr lang="ko-KR" sz="2100" b="0" i="0" u="none" strike="noStrike" spc="-200" dirty="0">
                <a:solidFill>
                  <a:srgbClr val="AD1515"/>
                </a:solidFill>
                <a:ea typeface="S-Core Dream 4 Regular"/>
              </a:rPr>
              <a:t>언제까지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 dirty="0">
                <a:solidFill>
                  <a:srgbClr val="AD1515"/>
                </a:solidFill>
                <a:ea typeface="S-Core Dream 4 Regular"/>
              </a:rPr>
              <a:t>위험을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  </a:t>
            </a:r>
            <a:r>
              <a:rPr lang="ko-KR" sz="2100" b="0" i="0" u="none" strike="noStrike" spc="-200" dirty="0">
                <a:solidFill>
                  <a:srgbClr val="AD1515"/>
                </a:solidFill>
                <a:ea typeface="S-Core Dream 4 Regular"/>
              </a:rPr>
              <a:t>방치할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 dirty="0">
                <a:solidFill>
                  <a:srgbClr val="AD1515"/>
                </a:solidFill>
                <a:ea typeface="S-Core Dream 4 Regular"/>
              </a:rPr>
              <a:t>순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100" b="0" i="0" u="none" strike="noStrike" spc="-200" dirty="0">
                <a:solidFill>
                  <a:srgbClr val="AD1515"/>
                </a:solidFill>
                <a:ea typeface="S-Core Dream 4 Regular"/>
              </a:rPr>
              <a:t>없습니다</a:t>
            </a:r>
            <a:r>
              <a:rPr lang="en-US" sz="2100" b="0" i="0" u="none" strike="noStrike" spc="-200" dirty="0">
                <a:solidFill>
                  <a:srgbClr val="AD1515"/>
                </a:solidFill>
                <a:latin typeface="S-Core Dream 4 Regular"/>
              </a:rPr>
              <a:t>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700" y="5575300"/>
            <a:ext cx="1689100" cy="1270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0" y="0"/>
            <a:ext cx="10515600" cy="7886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98900" y="8648700"/>
            <a:ext cx="1028700" cy="1028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802100" y="8890000"/>
            <a:ext cx="6477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369"/>
              </a:lnSpc>
            </a:pPr>
            <a:r>
              <a:rPr lang="en-US" sz="3200" b="0" i="0" u="none" strike="noStrike" spc="-100">
                <a:solidFill>
                  <a:srgbClr val="AD1515"/>
                </a:solidFill>
                <a:latin typeface="Alfa Slab One"/>
              </a:rPr>
              <a:t>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3300" y="5943600"/>
            <a:ext cx="5207000" cy="434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143000"/>
            <a:ext cx="8483600" cy="2933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6200000">
            <a:off x="16179800" y="762000"/>
            <a:ext cx="2032000" cy="495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27200" y="1574800"/>
            <a:ext cx="5803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9239"/>
              </a:lnSpc>
            </a:pP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첫번째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,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건축분야에서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우위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선점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7200" y="2324100"/>
            <a:ext cx="139319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안전에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관한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것은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지역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,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성별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,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종교를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가리지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않고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최우선이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될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수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밖에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없습니다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. 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똑같은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문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시장에서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특허품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선점을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통한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 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경쟁에서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우위를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선점할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수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있습니다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.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75100" y="8686800"/>
            <a:ext cx="1028700" cy="1028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6827500" y="8928100"/>
            <a:ext cx="7239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369"/>
              </a:lnSpc>
            </a:pPr>
            <a:r>
              <a:rPr lang="en-US" sz="3200" b="0" i="0" u="none" strike="noStrike" spc="-100">
                <a:solidFill>
                  <a:srgbClr val="AD1515"/>
                </a:solidFill>
                <a:latin typeface="Alfa Slab One"/>
              </a:rPr>
              <a:t>09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" y="4457700"/>
            <a:ext cx="8483600" cy="5600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714500" y="4953000"/>
            <a:ext cx="72517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9239"/>
              </a:lnSpc>
            </a:pP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두번째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,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조례개정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(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반영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)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가능성을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통한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지속적인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성장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7200" y="5524500"/>
            <a:ext cx="7505700" cy="3949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SBS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기사를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참고해보면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익산시에서만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1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년에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350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 err="1">
                <a:solidFill>
                  <a:srgbClr val="AD1515"/>
                </a:solidFill>
                <a:ea typeface="S-Core Dream 4 Regular"/>
              </a:rPr>
              <a:t>갇힘사고가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 err="1">
                <a:solidFill>
                  <a:srgbClr val="AD1515"/>
                </a:solidFill>
                <a:ea typeface="S-Core Dream 4 Regular"/>
              </a:rPr>
              <a:t>발생하고있고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,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독신자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및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독거노인은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지속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증가추세로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 dirty="0" err="1">
                <a:solidFill>
                  <a:srgbClr val="AD1515"/>
                </a:solidFill>
                <a:ea typeface="S-Core Dream 4 Regular"/>
              </a:rPr>
              <a:t>갇힘사고는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더욱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더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 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사회문제로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대두될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가능성이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높아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조례개정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(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반영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)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가능성이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 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높습니다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. 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이런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조례개정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(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반영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)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이전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특허품을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선점한다면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지속적인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성장이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 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가능할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것으로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 dirty="0">
                <a:solidFill>
                  <a:srgbClr val="AD1515"/>
                </a:solidFill>
                <a:ea typeface="S-Core Dream 4 Regular"/>
              </a:rPr>
              <a:t>판단됩니다</a:t>
            </a:r>
            <a:r>
              <a:rPr lang="en-US" sz="2200" b="0" i="0" u="none" strike="noStrike" spc="-200" dirty="0">
                <a:solidFill>
                  <a:srgbClr val="AD1515"/>
                </a:solidFill>
                <a:latin typeface="S-Core Dream 4 Regular"/>
              </a:rPr>
              <a:t>. </a:t>
            </a:r>
          </a:p>
          <a:p>
            <a:pPr marL="342900" lvl="0" indent="-342900" algn="l">
              <a:lnSpc>
                <a:spcPct val="131970"/>
              </a:lnSpc>
              <a:buClr>
                <a:srgbClr val="AD1515"/>
              </a:buClr>
              <a:buFont typeface="Arial"/>
              <a:buChar char="●"/>
            </a:pPr>
            <a:r>
              <a:rPr lang="ko-KR" sz="2200" b="0" i="0" u="none" strike="noStrike" dirty="0">
                <a:solidFill>
                  <a:srgbClr val="AD1515"/>
                </a:solidFill>
                <a:ea typeface="S-Core Dream 4 Regular"/>
              </a:rPr>
              <a:t>출처</a:t>
            </a:r>
            <a:r>
              <a:rPr lang="en-US" sz="2200" b="0" i="0" u="none" strike="noStrike" dirty="0">
                <a:solidFill>
                  <a:srgbClr val="AD1515"/>
                </a:solidFill>
                <a:latin typeface="S-Core Dream 4 Regular"/>
              </a:rPr>
              <a:t> : https://www.youtube.com/watch?v=5gm438OnfSk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0600" y="-63500"/>
            <a:ext cx="5194300" cy="6019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00" y="1206500"/>
            <a:ext cx="9880600" cy="73914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5100" y="8763000"/>
            <a:ext cx="1028700" cy="1028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6827500" y="9004300"/>
            <a:ext cx="7239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369"/>
              </a:lnSpc>
            </a:pPr>
            <a:r>
              <a:rPr lang="en-US" sz="3200" b="0" i="0" u="none" strike="noStrike" spc="-100">
                <a:solidFill>
                  <a:srgbClr val="AD1515"/>
                </a:solidFill>
                <a:latin typeface="Alfa Slab One"/>
              </a:rPr>
              <a:t>10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9700" y="5575300"/>
            <a:ext cx="1689100" cy="1270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200400" y="2286000"/>
            <a:ext cx="7480300" cy="137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369"/>
              </a:lnSpc>
            </a:pPr>
            <a:r>
              <a:rPr lang="en-US" sz="7700" b="0" i="0" u="none" strike="noStrike">
                <a:solidFill>
                  <a:srgbClr val="AD1515"/>
                </a:solidFill>
                <a:latin typeface="Alfa Slab One"/>
              </a:rPr>
              <a:t>CONTACT 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00400" y="4711700"/>
            <a:ext cx="38481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269"/>
              </a:lnSpc>
            </a:pP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MAILING ADDRESS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558800" y="355600"/>
            <a:ext cx="1231900" cy="495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200400" y="5219700"/>
            <a:ext cx="49657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6910"/>
              </a:lnSpc>
            </a:pP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텍스트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박스를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더블클릭하여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내용을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수정해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주세요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00400" y="5842000"/>
            <a:ext cx="38481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269"/>
              </a:lnSpc>
            </a:pP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PHONE NUMBER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00400" y="6350000"/>
            <a:ext cx="49657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6910"/>
              </a:lnSpc>
            </a:pP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텍스트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박스를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더블클릭하여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내용을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수정해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주세요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00400" y="6934200"/>
            <a:ext cx="38481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269"/>
              </a:lnSpc>
            </a:pP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EMAIL ADDRESS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00400" y="7442200"/>
            <a:ext cx="49657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6910"/>
              </a:lnSpc>
            </a:pP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텍스트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박스를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더블클릭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@ </a:t>
            </a: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내용을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수정해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1700" b="0" i="0" u="none" strike="noStrike" spc="-100">
                <a:solidFill>
                  <a:srgbClr val="AD1515"/>
                </a:solidFill>
                <a:ea typeface="S-Core Dream 4 Regular"/>
              </a:rPr>
              <a:t>주세요</a:t>
            </a:r>
            <a:r>
              <a:rPr lang="en-US" sz="1700" b="0" i="0" u="none" strike="noStrike" spc="-100">
                <a:solidFill>
                  <a:srgbClr val="AD1515"/>
                </a:solidFill>
                <a:latin typeface="S-Core Dream 4 Regular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5100" y="8686800"/>
            <a:ext cx="1028700" cy="1028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6827500" y="8928100"/>
            <a:ext cx="7239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369"/>
              </a:lnSpc>
            </a:pPr>
            <a:r>
              <a:rPr lang="en-US" sz="3200" b="0" i="0" u="none" strike="noStrike" spc="-100">
                <a:solidFill>
                  <a:srgbClr val="AD1515"/>
                </a:solidFill>
                <a:latin typeface="Alfa Slab One"/>
              </a:rPr>
              <a:t>08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558800" y="355600"/>
            <a:ext cx="1231900" cy="495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841500" y="876300"/>
            <a:ext cx="6070600" cy="284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4660"/>
              </a:lnSpc>
            </a:pPr>
            <a:r>
              <a:rPr lang="ko-KR" sz="9200" b="0" i="0" u="none" strike="noStrike" spc="-1000">
                <a:solidFill>
                  <a:srgbClr val="AD1515"/>
                </a:solidFill>
                <a:ea typeface="Black Han Sans Regular"/>
              </a:rPr>
              <a:t>이곳에</a:t>
            </a:r>
            <a:r>
              <a:rPr lang="en-US" sz="9200" b="0" i="0" u="none" strike="noStrike" spc="-1000">
                <a:solidFill>
                  <a:srgbClr val="AD1515"/>
                </a:solidFill>
                <a:latin typeface="Black Han Sans Regular"/>
              </a:rPr>
              <a:t> </a:t>
            </a:r>
            <a:r>
              <a:rPr lang="ko-KR" sz="9200" b="0" i="0" u="none" strike="noStrike" spc="-1000">
                <a:solidFill>
                  <a:srgbClr val="AD1515"/>
                </a:solidFill>
                <a:ea typeface="Black Han Sans Regular"/>
              </a:rPr>
              <a:t>제목을</a:t>
            </a:r>
          </a:p>
          <a:p>
            <a:pPr lvl="0" algn="l">
              <a:lnSpc>
                <a:spcPct val="84660"/>
              </a:lnSpc>
            </a:pPr>
            <a:r>
              <a:rPr lang="ko-KR" sz="9200" b="0" i="0" u="none" strike="noStrike" spc="-1000">
                <a:solidFill>
                  <a:srgbClr val="AD1515"/>
                </a:solidFill>
                <a:ea typeface="Black Han Sans Regular"/>
              </a:rPr>
              <a:t>입력하세요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2200" y="8013700"/>
            <a:ext cx="38481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서브타이틀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,</a:t>
            </a:r>
          </a:p>
          <a:p>
            <a:pPr lvl="0" algn="l">
              <a:lnSpc>
                <a:spcPct val="124499"/>
              </a:lnSpc>
            </a:pP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이곳에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텍스트를</a:t>
            </a:r>
            <a:r>
              <a:rPr lang="en-US" sz="2400" b="0" i="0" u="none" strike="noStrike" spc="-100">
                <a:solidFill>
                  <a:srgbClr val="AD1515"/>
                </a:solidFill>
                <a:latin typeface="S-Core Dream 6 Bold"/>
              </a:rPr>
              <a:t> </a:t>
            </a:r>
            <a:r>
              <a:rPr lang="ko-KR" sz="2400" b="0" i="0" u="none" strike="noStrike" spc="-100">
                <a:solidFill>
                  <a:srgbClr val="AD1515"/>
                </a:solidFill>
                <a:ea typeface="S-Core Dream 6 Bold"/>
              </a:rPr>
              <a:t>입력하세요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300" y="1219200"/>
            <a:ext cx="6654800" cy="5283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588500" y="7175500"/>
            <a:ext cx="6743700" cy="172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이곳에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본문의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내용을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입력하여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주세요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.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텍스트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박스를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더블클릭하면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내용을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수정할수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있습니다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.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메뉴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텍스트의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다양한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글자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조정으로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다양하고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멋진</a:t>
            </a:r>
          </a:p>
          <a:p>
            <a:pPr lvl="0" algn="l">
              <a:lnSpc>
                <a:spcPct val="131970"/>
              </a:lnSpc>
            </a:pP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나만의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디자인을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만들어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 </a:t>
            </a:r>
            <a:r>
              <a:rPr lang="ko-KR" sz="2200" b="0" i="0" u="none" strike="noStrike" spc="-200">
                <a:solidFill>
                  <a:srgbClr val="AD1515"/>
                </a:solidFill>
                <a:ea typeface="S-Core Dream 4 Regular"/>
              </a:rPr>
              <a:t>보세요</a:t>
            </a:r>
            <a:r>
              <a:rPr lang="en-US" sz="2200" b="0" i="0" u="none" strike="noStrike" spc="-200">
                <a:solidFill>
                  <a:srgbClr val="AD1515"/>
                </a:solidFill>
                <a:latin typeface="S-Core Dream 4 Regular"/>
              </a:rPr>
              <a:t>.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3400" y="2247900"/>
            <a:ext cx="4546600" cy="35560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1" name="TextBox 11"/>
          <p:cNvSpPr txBox="1"/>
          <p:nvPr/>
        </p:nvSpPr>
        <p:spPr>
          <a:xfrm>
            <a:off x="10020300" y="5562600"/>
            <a:ext cx="546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46910"/>
              </a:lnSpc>
            </a:pPr>
            <a:r>
              <a:rPr lang="en-US" sz="1800" b="0" i="0" u="none" strike="noStrike" spc="-100">
                <a:solidFill>
                  <a:srgbClr val="AD1515"/>
                </a:solidFill>
                <a:latin typeface="S-Core Dream 4 Regular"/>
              </a:rPr>
              <a:t>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20300" y="4699000"/>
            <a:ext cx="546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46910"/>
              </a:lnSpc>
            </a:pPr>
            <a:r>
              <a:rPr lang="en-US" sz="1800" b="0" i="0" u="none" strike="noStrike" spc="-100">
                <a:solidFill>
                  <a:srgbClr val="AD1515"/>
                </a:solidFill>
                <a:latin typeface="S-Core Dream 4 Regular"/>
              </a:rPr>
              <a:t>10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20300" y="3822700"/>
            <a:ext cx="546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46910"/>
              </a:lnSpc>
            </a:pPr>
            <a:r>
              <a:rPr lang="en-US" sz="1800" b="0" i="0" u="none" strike="noStrike" spc="-100">
                <a:solidFill>
                  <a:srgbClr val="AD1515"/>
                </a:solidFill>
                <a:latin typeface="S-Core Dream 4 Regular"/>
              </a:rPr>
              <a:t>20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20300" y="2946400"/>
            <a:ext cx="546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46910"/>
              </a:lnSpc>
            </a:pPr>
            <a:r>
              <a:rPr lang="en-US" sz="1800" b="0" i="0" u="none" strike="noStrike" spc="-100">
                <a:solidFill>
                  <a:srgbClr val="AD1515"/>
                </a:solidFill>
                <a:latin typeface="S-Core Dream 4 Regular"/>
              </a:rPr>
              <a:t>30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20300" y="2070100"/>
            <a:ext cx="546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46910"/>
              </a:lnSpc>
            </a:pPr>
            <a:r>
              <a:rPr lang="en-US" sz="1800" b="0" i="0" u="none" strike="noStrike" spc="-100">
                <a:solidFill>
                  <a:srgbClr val="AD1515"/>
                </a:solidFill>
                <a:latin typeface="S-Core Dream 4 Regular"/>
              </a:rPr>
              <a:t>40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20400" y="5854700"/>
            <a:ext cx="8255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46910"/>
              </a:lnSpc>
            </a:pPr>
            <a:r>
              <a:rPr lang="en-US" sz="1800" b="0" i="0" u="none" strike="noStrike" spc="-100">
                <a:solidFill>
                  <a:srgbClr val="AD1515"/>
                </a:solidFill>
                <a:latin typeface="S-Core Dream 4 Regular"/>
              </a:rPr>
              <a:t>item1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950700" y="5854700"/>
            <a:ext cx="8255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46910"/>
              </a:lnSpc>
            </a:pPr>
            <a:r>
              <a:rPr lang="en-US" sz="1800" b="0" i="0" u="none" strike="noStrike" spc="-100">
                <a:solidFill>
                  <a:srgbClr val="AD1515"/>
                </a:solidFill>
                <a:latin typeface="S-Core Dream 4 Regular"/>
              </a:rPr>
              <a:t>item2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93700" y="5854700"/>
            <a:ext cx="8255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46910"/>
              </a:lnSpc>
            </a:pPr>
            <a:r>
              <a:rPr lang="en-US" sz="1800" b="0" i="0" u="none" strike="noStrike" spc="-100">
                <a:solidFill>
                  <a:srgbClr val="AD1515"/>
                </a:solidFill>
                <a:latin typeface="S-Core Dream 6 Bold"/>
              </a:rPr>
              <a:t>item3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24000" y="5854700"/>
            <a:ext cx="8255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46910"/>
              </a:lnSpc>
            </a:pPr>
            <a:r>
              <a:rPr lang="en-US" sz="1800" b="0" i="0" u="none" strike="noStrike" spc="-100">
                <a:solidFill>
                  <a:srgbClr val="AD1515"/>
                </a:solidFill>
                <a:latin typeface="S-Core Dream 4 Regular"/>
              </a:rPr>
              <a:t>item4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4241800"/>
            <a:ext cx="736600" cy="1524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15800" y="3479800"/>
            <a:ext cx="736600" cy="2286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46100" y="2603500"/>
            <a:ext cx="736600" cy="3162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51000" y="3340100"/>
            <a:ext cx="736600" cy="2413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328</Words>
  <Application>Microsoft Office PowerPoint</Application>
  <PresentationFormat>사용자 지정</PresentationFormat>
  <Paragraphs>95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굴림</vt:lpstr>
      <vt:lpstr>Arial</vt:lpstr>
      <vt:lpstr>Alfa Slab One</vt:lpstr>
      <vt:lpstr>S-Core Dream 6 Bold</vt:lpstr>
      <vt:lpstr>Calibri</vt:lpstr>
      <vt:lpstr>Black Han Sans Regular</vt:lpstr>
      <vt:lpstr>S-Core Dream 4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owner</cp:lastModifiedBy>
  <cp:revision>2</cp:revision>
  <dcterms:created xsi:type="dcterms:W3CDTF">2006-08-16T00:00:00Z</dcterms:created>
  <dcterms:modified xsi:type="dcterms:W3CDTF">2024-08-25T07:04:41Z</dcterms:modified>
</cp:coreProperties>
</file>